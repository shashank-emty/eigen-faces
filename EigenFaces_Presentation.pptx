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822960"/>
            <a:ext cx="45720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6B6D4"/>
                </a:solidFill>
              </a:defRPr>
            </a:pPr>
            <a:r>
              <a:t>MACHINE LEARNING • TECHNICAL PAPER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Eigenfaces for Recognition</a:t>
            </a:r>
          </a:p>
          <a:p>
            <a:pPr>
              <a:defRPr sz="1800">
                <a:solidFill>
                  <a:srgbClr val="94A3B8"/>
                </a:solidFill>
              </a:defRPr>
            </a:pPr>
            <a:r>
              <a:t>Dimensionality Reduction, Subspace Modeling &amp; 4-Way Decision Framework</a:t>
            </a:r>
          </a:p>
          <a:p>
            <a:pPr>
              <a:defRPr sz="1300">
                <a:solidFill>
                  <a:srgbClr val="06B6D4"/>
                </a:solidFill>
              </a:defRPr>
            </a:pPr>
            <a:r>
              <a:t>Implementation of the Landmark Paper by Matthew Turk &amp; Alex Pentland (1991)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474720"/>
            <a:ext cx="4937760" cy="2743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59E0B"/>
                </a:solidFill>
              </a:defRPr>
            </a:pPr>
            <a:r>
              <a:t>PRESENTER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Shashank M T</a:t>
            </a:r>
          </a:p>
          <a:p>
            <a:pPr>
              <a:defRPr sz="1100">
                <a:solidFill>
                  <a:srgbClr val="E2E8F0"/>
                </a:solidFill>
              </a:defRPr>
            </a:pPr>
            <a:r>
              <a:t>•  UUCMS Register No.: U01BH25C0174</a:t>
            </a:r>
          </a:p>
          <a:p>
            <a:pPr>
              <a:defRPr sz="1100">
                <a:solidFill>
                  <a:srgbClr val="E2E8F0"/>
                </a:solidFill>
              </a:defRPr>
            </a:pPr>
            <a:r>
              <a:t>•  Course / Degree: BCA(AI) – 3rd Semester, 2nd Year</a:t>
            </a:r>
          </a:p>
          <a:p>
            <a:pPr>
              <a:defRPr sz="1100">
                <a:solidFill>
                  <a:srgbClr val="E2E8F0"/>
                </a:solidFill>
              </a:defRPr>
            </a:pPr>
            <a:r>
              <a:t>•  Subject: Machine Learning</a:t>
            </a:r>
          </a:p>
          <a:p>
            <a:pPr>
              <a:defRPr sz="1100">
                <a:solidFill>
                  <a:srgbClr val="E2E8F0"/>
                </a:solidFill>
              </a:defRPr>
            </a:pPr>
            <a:r>
              <a:t>•  Institution: Pooja Bhagavat Mahajana First Grade College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474720"/>
            <a:ext cx="5029200" cy="27432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59E0B"/>
                </a:solidFill>
              </a:defRPr>
            </a:pPr>
            <a:r>
              <a:t>GUIDANCE &amp; INSTITUTION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Ragunandan B</a:t>
            </a:r>
          </a:p>
          <a:p>
            <a:pPr>
              <a:defRPr sz="1100">
                <a:solidFill>
                  <a:srgbClr val="E2E8F0"/>
                </a:solidFill>
              </a:defRPr>
            </a:pPr>
            <a:r>
              <a:t>•  Designation: Course Lecturer (Guest Lecturer – ML)</a:t>
            </a:r>
          </a:p>
          <a:p>
            <a:pPr>
              <a:defRPr sz="1100">
                <a:solidFill>
                  <a:srgbClr val="E2E8F0"/>
                </a:solidFill>
              </a:defRPr>
            </a:pPr>
            <a:r>
              <a:t>•  Department: Dept. of Computer Science &amp; AI, PBM FGC</a:t>
            </a:r>
          </a:p>
          <a:p>
            <a:pPr>
              <a:defRPr sz="1100">
                <a:solidFill>
                  <a:srgbClr val="E2E8F0"/>
                </a:solidFill>
              </a:defRPr>
            </a:pPr>
            <a:r>
              <a:t>•  Date: October 15, 2026</a:t>
            </a:r>
          </a:p>
          <a:p>
            <a:pPr>
              <a:defRPr sz="1100">
                <a:solidFill>
                  <a:srgbClr val="E2E8F0"/>
                </a:solidFill>
              </a:defRPr>
            </a:pPr>
            <a:r>
              <a:t>•  Repository: github.com/shashank-emty/Eigen-faces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EIGENFACES • TURK &amp; PENTLAND (1991)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Motivation &amp; The Paradigm Shift in Face Recognition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E11D48"/>
                </a:solidFill>
              </a:defRPr>
            </a:pPr>
            <a:r>
              <a:t>Traditional Approach (Pre-1991)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Geometric Feature Extraction</a:t>
            </a:r>
          </a:p>
          <a:p>
            <a:pPr>
              <a:defRPr sz="1150" b="1">
                <a:solidFill>
                  <a:srgbClr val="0F172A"/>
                </a:solidFill>
              </a:defRPr>
            </a:pPr>
            <a:r>
              <a:t>• Manual Geometry Measurement: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Tried to measure distances between pupils, nose width, lip length, and jaw curvature.</a:t>
            </a:r>
          </a:p>
          <a:p>
            <a:pPr>
              <a:defRPr sz="1150" b="1">
                <a:solidFill>
                  <a:srgbClr val="0F172A"/>
                </a:solidFill>
              </a:defRPr>
            </a:pPr>
            <a:r>
              <a:t>• High Sensitivity to Pose: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Even a small head tilt or rotation dramatically altered calculated distances.</a:t>
            </a:r>
          </a:p>
          <a:p>
            <a:pPr>
              <a:defRPr sz="1150" b="1">
                <a:solidFill>
                  <a:srgbClr val="0F172A"/>
                </a:solidFill>
              </a:defRPr>
            </a:pPr>
            <a:r>
              <a:t>• Expression Sensitivity: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Smiling, blinking, or talking changed feature coordinates and broke matching.</a:t>
            </a:r>
          </a:p>
          <a:p>
            <a:pPr>
              <a:defRPr sz="1150" b="1">
                <a:solidFill>
                  <a:srgbClr val="0F172A"/>
                </a:solidFill>
              </a:defRPr>
            </a:pPr>
            <a:r>
              <a:t>• Lighting Vulnerability: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Shadows caused edge detectors to miss feature boundaries entirely.</a:t>
            </a:r>
          </a:p>
          <a:p>
            <a:pPr>
              <a:defRPr sz="1150" b="1">
                <a:solidFill>
                  <a:srgbClr val="0F172A"/>
                </a:solidFill>
              </a:defRPr>
            </a:pPr>
            <a:r>
              <a:t>• Conclusion: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Complex, slow, and brittle for automated real-time recognition.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The Turk &amp; Pentland Breakthrough (1991)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Holistic Information-Theoretic Approach</a:t>
            </a:r>
          </a:p>
          <a:p>
            <a:pPr>
              <a:defRPr sz="1150" b="1">
                <a:solidFill>
                  <a:srgbClr val="0F172A"/>
                </a:solidFill>
              </a:defRPr>
            </a:pPr>
            <a:r>
              <a:t>• Treat Whole Image as a Pattern: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Does not isolate eyes, nose, or mouth. Analyzes the face as a single 2D brightness distribution.</a:t>
            </a:r>
          </a:p>
          <a:p>
            <a:pPr>
              <a:defRPr sz="1150" b="1">
                <a:solidFill>
                  <a:srgbClr val="0F172A"/>
                </a:solidFill>
              </a:defRPr>
            </a:pPr>
            <a:r>
              <a:t>• Subspace Information Coding: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Captures features that best account for the variation across the entire collection of faces.</a:t>
            </a:r>
          </a:p>
          <a:p>
            <a:pPr>
              <a:defRPr sz="1150" b="1">
                <a:solidFill>
                  <a:srgbClr val="0F172A"/>
                </a:solidFill>
              </a:defRPr>
            </a:pPr>
            <a:r>
              <a:t>• Dimensionality Reduction: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Projects high-dimensional image space onto a tiny subspace spanning only the prominent variations.</a:t>
            </a:r>
          </a:p>
          <a:p>
            <a:pPr>
              <a:defRPr sz="1150" b="1">
                <a:solidFill>
                  <a:srgbClr val="0F172A"/>
                </a:solidFill>
              </a:defRPr>
            </a:pPr>
            <a:r>
              <a:t>• Real-Time Execution: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Recognition reduces to a simple Euclidean distance calculation among a few dozen scalar weights.</a:t>
            </a:r>
          </a:p>
          <a:p>
            <a:pPr>
              <a:defRPr sz="1150" b="1">
                <a:solidFill>
                  <a:srgbClr val="0F172A"/>
                </a:solidFill>
              </a:defRPr>
            </a:pPr>
            <a:r>
              <a:t>• Foundational Landmark: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Established the principle of appearance-based subspace learning in computer vision.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EIGENFACES • TURK &amp; PENTLAND (1991)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Mathematical Subspace: Image Vectorization &amp; Mean Face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329184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2563EB"/>
                </a:solidFill>
              </a:defRPr>
            </a:pPr>
            <a:r>
              <a:t>1. Image Vectorization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From 2D Pixel Grid to High-Dimensional Vector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Standard image dimensions: N × N = 64 × 64 pixels.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Unrolled into a single column vector: Γ ∈ ℝ^D, where D = 4,096.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Pixel values are normalized grayscale intensities in range [0, 1].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Every face is treated as a single point in a 4,096-dimensional space.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71600"/>
            <a:ext cx="329184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59E0B"/>
                </a:solidFill>
              </a:defRPr>
            </a:pPr>
            <a:r>
              <a:t>2. The Average Face (Ψ)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Capturing the Shared Baseline Geometry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Mathematical definition: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    Ψ = (1 / M) Σ Γ_i   (for i = 1 to M)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Captures common structural features shared across all human subjects (eyes, nose, forehead placement).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Visually appears as a smooth, blurry composite face.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Serves as the origin of the centered face coordinate system.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71600"/>
            <a:ext cx="3383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0B981"/>
                </a:solidFill>
              </a:defRPr>
            </a:pPr>
            <a:r>
              <a:t>3. Mean-Centered Matrix (A)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Isolating Distinguishing Variations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Subtract the mean from each face: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    Φ_i = Γ_i - Ψ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Removes common baseline; preserves only individual distinctiveness.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Stack centered vectors into matrix A: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    A = [Φ_1, Φ_2, ..., Φ_M] ∈ ℝ^(D × M)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With D = 4,096 and M = 245, A is a 4,096 × 245 matrix.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EIGENFACES • TURK &amp; PENTLAND (1991)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The Turk-Pentland Dimensionality Reduction Trick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E11D48"/>
                </a:solidFill>
              </a:defRPr>
            </a:pPr>
            <a:r>
              <a:t>The Computational Roadblock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Full Covariance Matrix: C = (1/M) A A^T</a:t>
            </a:r>
          </a:p>
          <a:p>
            <a:pPr>
              <a:defRPr sz="1150" b="1">
                <a:solidFill>
                  <a:srgbClr val="0F172A"/>
                </a:solidFill>
              </a:defRPr>
            </a:pPr>
            <a:r>
              <a:t>• Dimensionality Crisis: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A is 4,096 × 245. Thus, C = A A^T has dimensions 4,096 × 4,096.</a:t>
            </a:r>
          </a:p>
          <a:p>
            <a:pPr>
              <a:defRPr sz="1150" b="1">
                <a:solidFill>
                  <a:srgbClr val="0F172A"/>
                </a:solidFill>
              </a:defRPr>
            </a:pPr>
            <a:r>
              <a:t>• Massive Matrix Size: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Contains 4,096² = 16,777,216 floating-point values (~134 MB memory footprint).</a:t>
            </a:r>
          </a:p>
          <a:p>
            <a:pPr>
              <a:defRPr sz="1150" b="1">
                <a:solidFill>
                  <a:srgbClr val="0F172A"/>
                </a:solidFill>
              </a:defRPr>
            </a:pPr>
            <a:r>
              <a:t>• Cubic Complexity: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Computing eigenvectors of a 4,096 × 4,096 matrix requires O(D³) operations—intractable for real-time deployment.</a:t>
            </a:r>
          </a:p>
          <a:p>
            <a:pPr>
              <a:defRPr sz="1150" b="1">
                <a:solidFill>
                  <a:srgbClr val="0F172A"/>
                </a:solidFill>
              </a:defRPr>
            </a:pPr>
            <a:r>
              <a:t>• Rank Deficiency: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Because we only have M = 245 sample images, the maximum rank of C is at most M - 1 = 244.</a:t>
            </a:r>
          </a:p>
          <a:p>
            <a:pPr>
              <a:defRPr sz="1150" b="1">
                <a:solidFill>
                  <a:srgbClr val="0F172A"/>
                </a:solidFill>
              </a:defRPr>
            </a:pPr>
            <a:r>
              <a:t>• Redundant Computation: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Over 3,850 of the 4,096 eigenvalues are exactly zero! Direct calculation computes thousands of meaningless zeros.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The Turk-Pentland Algebraic Duality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Surrogate Matrix: L = A^T A (279.5× Smaller)</a:t>
            </a:r>
          </a:p>
          <a:p>
            <a:pPr>
              <a:defRPr sz="1150" b="1">
                <a:solidFill>
                  <a:srgbClr val="0F172A"/>
                </a:solidFill>
              </a:defRPr>
            </a:pPr>
            <a:r>
              <a:t>• 1. Compute Surrogate Matrix L: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L = A^T A of size 245 × 245 (only 60,025 elements).</a:t>
            </a:r>
          </a:p>
          <a:p>
            <a:pPr>
              <a:defRPr sz="1150" b="1">
                <a:solidFill>
                  <a:srgbClr val="0F172A"/>
                </a:solidFill>
              </a:defRPr>
            </a:pPr>
            <a:r>
              <a:t>• 2. Solve Small Eigenproblem: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Let v_k be an eigenvector of L with eigenvalue μ_k:</a:t>
            </a:r>
            <a:br/>
            <a:r>
              <a:t>    A^T A v_k = μ_k v_k</a:t>
            </a:r>
          </a:p>
          <a:p>
            <a:pPr>
              <a:defRPr sz="1150" b="1">
                <a:solidFill>
                  <a:srgbClr val="0F172A"/>
                </a:solidFill>
              </a:defRPr>
            </a:pPr>
            <a:r>
              <a:t>• 3. Pre-multiply Both Sides by A: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    A (A^T A v_k) = A (μ_k v_k)</a:t>
            </a:r>
          </a:p>
          <a:p>
            <a:pPr>
              <a:defRPr sz="1150" b="1">
                <a:solidFill>
                  <a:srgbClr val="0F172A"/>
                </a:solidFill>
              </a:defRPr>
            </a:pPr>
            <a:r>
              <a:t>• 4. Re-associate Parentheses: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    (A A^T) (A v_k) = μ_k (A v_k)</a:t>
            </a:r>
          </a:p>
          <a:p>
            <a:pPr>
              <a:defRPr sz="1150" b="1">
                <a:solidFill>
                  <a:srgbClr val="0F172A"/>
                </a:solidFill>
              </a:defRPr>
            </a:pPr>
            <a:r>
              <a:t>• 5. Exact Equivalence Established: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The vector u_k = A v_k is directly an eigenvector of the full covariance matrix C = A A^T!</a:t>
            </a:r>
          </a:p>
          <a:p>
            <a:pPr>
              <a:defRPr sz="1150" b="1">
                <a:solidFill>
                  <a:srgbClr val="0F172A"/>
                </a:solidFill>
              </a:defRPr>
            </a:pPr>
            <a:r>
              <a:t>• 6. Orthonormalization: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Normalize to unit length: u_k = (A v_k) / ||A v_k||₂.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EIGENFACES • TURK &amp; PENTLAND (1991)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How Eigenfaces Are Formed: The Linear Combination Recipe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2563EB"/>
                </a:solidFill>
              </a:defRPr>
            </a:pPr>
            <a:r>
              <a:t>1. Transforming Small Vectors Into Faces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Mathematical Recipe: u_k = A · v_k</a:t>
            </a:r>
          </a:p>
          <a:p>
            <a:pPr>
              <a:defRPr sz="1150" b="1">
                <a:solidFill>
                  <a:srgbClr val="0F172A"/>
                </a:solidFill>
              </a:defRPr>
            </a:pPr>
            <a:r>
              <a:t>• The Eigenvector v_k as Blending Weights: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The small eigenvector v_k = [c₁, c₂, ..., c_M]^T contains M scalar numbers (one per training face). These numbers serve as mixing coefficients.</a:t>
            </a:r>
          </a:p>
          <a:p>
            <a:pPr>
              <a:defRPr sz="1150" b="1">
                <a:solidFill>
                  <a:srgbClr val="0F172A"/>
                </a:solidFill>
              </a:defRPr>
            </a:pPr>
            <a:r>
              <a:t>• Linear Combination of All Training Faces: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Multiplying A by v_k produces:</a:t>
            </a:r>
            <a:br/>
            <a:r>
              <a:t>    u_k = Σ(i=1 to M) c_i · Φ_i</a:t>
            </a:r>
            <a:br/>
            <a:r>
              <a:t>In plain words: Eigenface k is formed by taking c₁ of Face 1, adding c₂ of Face 2, subtracting c₃ of Face 3, and so on across all 245 faces.</a:t>
            </a:r>
          </a:p>
          <a:p>
            <a:pPr>
              <a:defRPr sz="1150" b="1">
                <a:solidFill>
                  <a:srgbClr val="0F172A"/>
                </a:solidFill>
              </a:defRPr>
            </a:pPr>
            <a:r>
              <a:t>• Why Do They Look Like 'Ghost' Faces?: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Because every Eigenface is literally a composite blending of 245 centered human faces. Adding and subtracting centered images reveals shared anatomical contours and lighting gradients while canceling individual skin textures.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0B981"/>
                </a:solidFill>
              </a:defRPr>
            </a:pPr>
            <a:r>
              <a:t>2. Ordering by Variance &amp; Feature Hierarchy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Sorting Eigenfaces by Eigenvalues (λ₁ ≥ λ₂ ≥ ... ≥ λ_M)</a:t>
            </a:r>
          </a:p>
          <a:p>
            <a:pPr>
              <a:defRPr sz="1150" b="1">
                <a:solidFill>
                  <a:srgbClr val="0F172A"/>
                </a:solidFill>
              </a:defRPr>
            </a:pPr>
            <a:r>
              <a:t>• Unit Normalization: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Each raw Eigenface is normalized to unit length:</a:t>
            </a:r>
            <a:br/>
            <a:r>
              <a:t>    u_k = u_k / ||u_k||₂</a:t>
            </a:r>
            <a:br/>
            <a:r>
              <a:t>Ensures all basis vectors form an orthonormal basis (u_i^T · u_j = 0 when i ≠ j).</a:t>
            </a:r>
          </a:p>
          <a:p>
            <a:pPr>
              <a:defRPr sz="1150" b="1">
                <a:solidFill>
                  <a:srgbClr val="0F172A"/>
                </a:solidFill>
              </a:defRPr>
            </a:pPr>
            <a:r>
              <a:t>• Eigenfaces 1 – 2 (Primary Illumination):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Correspond to the largest eigenvalues. Capture the dominant global lighting directions (light from left vs. light from right).</a:t>
            </a:r>
          </a:p>
          <a:p>
            <a:pPr>
              <a:defRPr sz="1150" b="1">
                <a:solidFill>
                  <a:srgbClr val="0F172A"/>
                </a:solidFill>
              </a:defRPr>
            </a:pPr>
            <a:r>
              <a:t>• Eigenfaces 3 – 10 (Macro Facial Anatomy):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Capture broad geometric variations: jawline width, forehead height, cheekbone structure, and hairline curvature.</a:t>
            </a:r>
          </a:p>
          <a:p>
            <a:pPr>
              <a:defRPr sz="1150" b="1">
                <a:solidFill>
                  <a:srgbClr val="0F172A"/>
                </a:solidFill>
              </a:defRPr>
            </a:pPr>
            <a:r>
              <a:t>• Eigenfaces 11 – 40 (Micro Facial Features):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Encode localized distinguishing traits: eye shapes, nose bridge contours, lip fullness, and eyebrows.</a:t>
            </a:r>
          </a:p>
          <a:p>
            <a:pPr>
              <a:defRPr sz="1150" b="1">
                <a:solidFill>
                  <a:srgbClr val="0F172A"/>
                </a:solidFill>
              </a:defRPr>
            </a:pPr>
            <a:r>
              <a:t>• Eigenfaces 41+ (Noise &amp; Redundancy):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Represent negligible variance, pixel quantization noise, or camera artifacts—safely discarded during dimensionality reduction.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EIGENFACES • TURK &amp; PENTLAND (1991)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Eigenfaces Gallery &amp; Eigenvalue Spectrum Analysis</a:t>
            </a:r>
          </a:p>
        </p:txBody>
      </p:sp>
      <p:pic>
        <p:nvPicPr>
          <p:cNvPr id="7" name="Picture 6" descr="01_eigenfaces_gall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25880"/>
            <a:ext cx="5120640" cy="38404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5257800"/>
            <a:ext cx="512064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Visual Anatomy of Top 16 Eigenfaces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• The first 4 eigenfaces show strong left/right and top/bottom lighting gradients.</a:t>
            </a:r>
            <a:br/>
            <a:r>
              <a:t>• Components 5-16 reveal distinct eye socket hollows, nose bridges, and jaw shapes.</a:t>
            </a:r>
            <a:br/>
            <a:r>
              <a:t>• Each image is an orthonormal basis vector spanning the face subspace.</a:t>
            </a:r>
          </a:p>
        </p:txBody>
      </p:sp>
      <p:pic>
        <p:nvPicPr>
          <p:cNvPr id="9" name="Picture 8" descr="02_eigenvalue_scree_p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25880"/>
            <a:ext cx="5212080" cy="38404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217920" y="5257800"/>
            <a:ext cx="52120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Eigenvalue Spectrum (Scree Analysis)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• Rapid exponential drop in eigenvalue magnitude confirms high data redundancy.</a:t>
            </a:r>
            <a:br/>
            <a:r>
              <a:t>• First 10 components account for ~65% of total dataset variance.</a:t>
            </a:r>
            <a:br/>
            <a:r>
              <a:t>• Top 40 components capture &gt;88% of variance, discarding high-frequency noise.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EIGENFACES • TURK &amp; PENTLAND (1991)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How Projection &amp; Reconstruction Work in Practice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10725912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2563EB"/>
                </a:solidFill>
              </a:defRPr>
            </a:pPr>
            <a:r>
              <a:t>1. Projection (Encoding) vs. 2. Reconstruction (Synthesis)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• How Projection Happens:  Ω = U_K^T · (Γ - Ψ) = [ω₁, ω₂, ..., ω_K]^T ∈ ℝ^K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  To encode a new face Γ: (1) Subtract Average Face Ψ. (2) Take dot product with each Eigenface u_k to compute weight ω_k = u_k^T · (Γ - Ψ). This compresses 4,096 raw pixels into a tiny vector of K scalar weights (e.g. K = 40).</a:t>
            </a:r>
          </a:p>
          <a:p>
            <a:pPr>
              <a:defRPr sz="1100" b="1">
                <a:solidFill>
                  <a:srgbClr val="0F172A"/>
                </a:solidFill>
              </a:defRPr>
            </a:pPr>
            <a:r>
              <a:t>• How Reconstruction Happens:  Γ̂ = Ψ + U_K · Ω = Ψ + Σ(k=1 to K) ω_k · u_k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  To rebuild the face: Start with Average Face Ψ, then add each Eigenface scaled by its weight. Layer by layer, the unique face reappears.</a:t>
            </a:r>
          </a:p>
        </p:txBody>
      </p:sp>
      <p:pic>
        <p:nvPicPr>
          <p:cNvPr id="8" name="Picture 7" descr="03_face_reconstru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834640"/>
            <a:ext cx="10725912" cy="374903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EIGENFACES • TURK &amp; PENTLAND (1991)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How Classification Happens: The 4-Way Decision Rule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120640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2563EB"/>
                </a:solidFill>
              </a:defRPr>
            </a:pPr>
            <a:r>
              <a:t>The Two Fundamental Questions &amp; Distances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Why naive nearest-neighbor fails on non-faces / strangers</a:t>
            </a:r>
          </a:p>
          <a:p>
            <a:pPr>
              <a:defRPr sz="1050" b="1">
                <a:solidFill>
                  <a:srgbClr val="0F172A"/>
                </a:solidFill>
              </a:defRPr>
            </a:pPr>
            <a:r>
              <a:t>• Question 1: 'Is this input a human face?':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  Tested via Distance From Face Space (DFFS, ε_d):</a:t>
            </a:r>
            <a:br/>
            <a:r>
              <a:t>    ε_d = ||Γ - Γ̂||₂ (Reconstruction Residual)</a:t>
            </a:r>
            <a:br/>
            <a:r>
              <a:t>Because Eigenfaces are derived solely from human faces, they CANNOT accurately reconstruct arbitrary objects (e.g. coffee mug, dog, checkerboard). If ε_d ≥ θ_f: The system immediately rejects: REJECTED (NOT A FACE).</a:t>
            </a:r>
          </a:p>
          <a:p>
            <a:pPr>
              <a:defRPr sz="1050" b="1">
                <a:solidFill>
                  <a:srgbClr val="0F172A"/>
                </a:solidFill>
              </a:defRPr>
            </a:pPr>
            <a:r>
              <a:t>• Question 2: 'If it is a face, whose face is it?':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  Tested via Distance In Face Space (DIFS, ε_c):</a:t>
            </a:r>
            <a:br/>
            <a:r>
              <a:t>    ε_c = min_k ||Ω - Ω_k||₂ (Subspace Euclidean Distance)</a:t>
            </a:r>
            <a:br/>
            <a:r>
              <a:t>We measure the distance between the probe's weight vector Ω and the enrolled class centroids Ω_k.</a:t>
            </a:r>
          </a:p>
          <a:p>
            <a:pPr>
              <a:defRPr sz="1050" b="1">
                <a:solidFill>
                  <a:srgbClr val="0F172A"/>
                </a:solidFill>
              </a:defRPr>
            </a:pPr>
            <a:r>
              <a:t>• Case 2: Known Enrolled Subject: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  If ε_d &lt; θ_f AND ε_c &lt; θ_c:</a:t>
            </a:r>
            <a:br/>
            <a:r>
              <a:t>Matched to enrolled class with minimal distance → RECOGNIZED (KNOWN FACE).</a:t>
            </a:r>
          </a:p>
          <a:p>
            <a:pPr>
              <a:defRPr sz="1050" b="1">
                <a:solidFill>
                  <a:srgbClr val="0F172A"/>
                </a:solidFill>
              </a:defRPr>
            </a:pPr>
            <a:r>
              <a:t>• Case 3: Unseen Human Stranger (Open-Set):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  If ε_d &lt; θ_f AND ε_c ≥ θ_c:</a:t>
            </a:r>
            <a:br/>
            <a:r>
              <a:t>Confirmed human face, but exceeds threshold for all known users → DETECTED (UNKNOWN VISITOR). Enables automated biometric enrollment.</a:t>
            </a:r>
          </a:p>
        </p:txBody>
      </p:sp>
      <p:pic>
        <p:nvPicPr>
          <p:cNvPr id="8" name="Picture 7" descr="04_decision_space_geo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280160"/>
            <a:ext cx="521208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EIGENFACES • TURK &amp; PENTLAND (1991)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Experimental Setup &amp; Open-Set Evaluation Protocol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329184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2563EB"/>
                </a:solidFill>
              </a:defRPr>
            </a:pPr>
            <a:r>
              <a:t>The AT&amp;T / Olivetti Dataset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400 Normalized Facial Images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40 distinct individuals (subjects s1 through s40).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10 images per subject under controlled conditions.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Variations: Minor tilt, lighting changes, facial expressions (open/closed eyes, smiling), eyeglasses.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Normalized dimensions: 64 × 64 pixels (grayscale).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71600"/>
            <a:ext cx="329184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59E0B"/>
                </a:solidFill>
              </a:defRPr>
            </a:pPr>
            <a:r>
              <a:t>Open-Set Subspace Partition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Gallery, Known Probes &amp; Unseen Subjects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Enrolled Subjects (35 individuals):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    - 7 images/subject for training (M = 245 gallery faces).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    - 3 images/subject for testing (105 known probes).</a:t>
            </a:r>
          </a:p>
          <a:p>
            <a:pPr>
              <a:defRPr sz="1100">
                <a:solidFill>
                  <a:srgbClr val="1E293B"/>
                </a:solidFill>
              </a:defRPr>
            </a:pP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Unseen / Open-Set Subjects (5 individuals):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    - Completely held out from training (50 unknown faces).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    - Tests false acceptance vs valid stranger enrollment.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71600"/>
            <a:ext cx="3383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E11D48"/>
                </a:solidFill>
              </a:defRPr>
            </a:pPr>
            <a:r>
              <a:t>Synthetic Non-Face Benchmark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Testing False Positive Rejection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20 synthetic non-face test images generated: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    - Regular checkerboards of varying frequencies.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    - High-frequency Gaussian white noise.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    - Uniform black / white / gradient fields.</a:t>
            </a:r>
          </a:p>
          <a:p>
            <a:pPr>
              <a:defRPr sz="1100">
                <a:solidFill>
                  <a:srgbClr val="1E293B"/>
                </a:solidFill>
              </a:defRPr>
            </a:pP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• Purpose: Verifies whether DFFS threshold (θ_f) properly rejects non-face objects rather than assigning a random identity.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EIGENFACES • TURK &amp; PENTLAND (1991)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Empirical Results: Accuracy, Compression &amp; Robustness</a:t>
            </a:r>
          </a:p>
        </p:txBody>
      </p:sp>
      <p:pic>
        <p:nvPicPr>
          <p:cNvPr id="7" name="Picture 6" descr="06_accuracy_vs_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25880"/>
            <a:ext cx="5120640" cy="38404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5257800"/>
            <a:ext cx="512064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</a:defRPr>
            </a:pPr>
            <a:r>
              <a:t>Recognition Accuracy vs Number of Components (K)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• Accuracy rises sharply from 62% at K = 2 to &gt;88% at K = 25.</a:t>
            </a:r>
            <a:br/>
            <a:r>
              <a:t>• Plateaus between K = 35 and K = 50 at ~90% accuracy.</a:t>
            </a:r>
            <a:br/>
            <a:r>
              <a:t>• Higher components add marginal discriminative power while capturing noise.</a:t>
            </a:r>
          </a:p>
        </p:txBody>
      </p:sp>
      <p:pic>
        <p:nvPicPr>
          <p:cNvPr id="9" name="Picture 8" descr="05_robustness_analys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25880"/>
            <a:ext cx="5212080" cy="38404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217920" y="5257800"/>
            <a:ext cx="521208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Noise Perturbation &amp; Occlusion Tolerance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• System remains stable under moderate Gaussian noise (σ ≤ 0.15).</a:t>
            </a:r>
            <a:br/>
            <a:r>
              <a:t>• Reconstructive projection acts as an intrinsic low-pass filter.</a:t>
            </a:r>
            <a:br/>
            <a:r>
              <a:t>• Degrades gracefully under center occlusions up to 25% area.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EIGENFACES • TURK &amp; PENTLAND (1991)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Comparative Analysis: Evolution of Face Recognition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329184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2563EB"/>
                </a:solidFill>
              </a:defRPr>
            </a:pPr>
            <a:r>
              <a:t>1. Eigenfaces (PCA)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Turk &amp; Pentland (1991)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Paradigm: Unsupervised linear dimensionality reduction.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Objective: Maximizes total variance across all images.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Training Speed: Instantaneous (~0.14 s on CPU).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Data Required: 5–10 samples per subject.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Strengths: Mathematically transparent, lightweight, zero GPU needed.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Weakness: Sensitive to extreme illumination and pose changes.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71600"/>
            <a:ext cx="329184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59E0B"/>
                </a:solidFill>
              </a:defRPr>
            </a:pPr>
            <a:r>
              <a:t>2. Fisherfaces (LDA)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Belhumeur et al. (1997)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Paradigm: Supervised linear discriminant analysis.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Objective: Maximizes between-class scatter while minimizing within-class scatter.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Training Speed: Very fast (&lt;1 s).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Illumination Invariance: Discards top 3 eigenvectors to eliminate lighting variations.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Strengths: More robust to shadows and lighting than standard PCA.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Weakness: Suffers from Small Sample Size (SSS) problem if M &lt; 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71600"/>
            <a:ext cx="33832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10B981"/>
                </a:solidFill>
              </a:defRPr>
            </a:pPr>
            <a:r>
              <a:t>3. Deep Embeddings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FaceNet / ArcFace (2015+)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Paradigm: Deep Convolutional Neural Networks (CNNs).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Objective: Non-linear metric learning on hyperspherical embeddings.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Training Speed: Compute-intensive (hours/days on GPU clusters).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Data Required: Millions of images (MS-Celeb-1M, VGGFace2).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Strengths: Invariant to extreme poses, occlusions, and expressions.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• Weakness: Black-box nature, heavy computational demands.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"/>
            <a:ext cx="10515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EIGENFACES • TURK &amp; PENTLAND (1991)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FFFFF"/>
                </a:solidFill>
              </a:defRPr>
            </a:pPr>
            <a:r>
              <a:t>Demonstration Interfaces: CLI Benchmark &amp; Web GUI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Interactive Web Dashboard (app.py)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Live Interactive Demonstration Interface</a:t>
            </a:r>
          </a:p>
          <a:p>
            <a:pPr>
              <a:defRPr sz="1150" b="1">
                <a:solidFill>
                  <a:srgbClr val="0F172A"/>
                </a:solidFill>
              </a:defRPr>
            </a:pPr>
            <a:r>
              <a:t>• Live Probe Classification: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Clickable gallery of enrolled subjects, open-set strangers, and synthetic non-faces.</a:t>
            </a:r>
          </a:p>
          <a:p>
            <a:pPr>
              <a:defRPr sz="1150" b="1">
                <a:solidFill>
                  <a:srgbClr val="0F172A"/>
                </a:solidFill>
              </a:defRPr>
            </a:pPr>
            <a:r>
              <a:t>• Visual Status Banners: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Instant color-coded decision outcomes:</a:t>
            </a:r>
            <a:br/>
            <a:r>
              <a:t>  • Green: Recognized Enrolled Subject</a:t>
            </a:r>
            <a:br/>
            <a:r>
              <a:t>  • Blue: Detected Unenrolled Stranger</a:t>
            </a:r>
            <a:br/>
            <a:r>
              <a:t>  • Red: Rejected Non-Face Pattern</a:t>
            </a:r>
          </a:p>
          <a:p>
            <a:pPr>
              <a:defRPr sz="1150" b="1">
                <a:solidFill>
                  <a:srgbClr val="0F172A"/>
                </a:solidFill>
              </a:defRPr>
            </a:pPr>
            <a:r>
              <a:t>• Face Reconstruction Lab: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Interactive slider dynamically adjusts K ∈ [1, 50], visually showing facial details emerging in real time.</a:t>
            </a:r>
          </a:p>
          <a:p>
            <a:pPr>
              <a:defRPr sz="1150" b="1">
                <a:solidFill>
                  <a:srgbClr val="0F172A"/>
                </a:solidFill>
              </a:defRPr>
            </a:pPr>
            <a:r>
              <a:t>• Dual Metric Gauges: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Real-time readout of ε_d (DFFS) and ε_c (DIFS) against calibrated thresholds θ_f and θ_c.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10B981"/>
                </a:solidFill>
              </a:defRPr>
            </a:pPr>
            <a:r>
              <a:t>Automated Terminal Benchmark (demo.py)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End-to-End Command-Line Pipeline</a:t>
            </a:r>
          </a:p>
          <a:p>
            <a:pPr>
              <a:defRPr sz="1150" b="1">
                <a:solidFill>
                  <a:srgbClr val="0F172A"/>
                </a:solidFill>
              </a:defRPr>
            </a:pPr>
            <a:r>
              <a:t>• Pure NumPy Architecture: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100% from-scratch linear algebra without scikit-learn PCA black-boxes.</a:t>
            </a:r>
          </a:p>
          <a:p>
            <a:pPr>
              <a:defRPr sz="1150" b="1">
                <a:solidFill>
                  <a:srgbClr val="0F172A"/>
                </a:solidFill>
              </a:defRPr>
            </a:pPr>
            <a:r>
              <a:t>• Diagnostic Telemetry: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Outputs detailed matrix dimensions, reduction factors (279.5×), and eigen-decomposition timings.</a:t>
            </a:r>
          </a:p>
          <a:p>
            <a:pPr>
              <a:defRPr sz="1150" b="1">
                <a:solidFill>
                  <a:srgbClr val="0F172A"/>
                </a:solidFill>
              </a:defRPr>
            </a:pPr>
            <a:r>
              <a:t>• Automated Evaluation: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Executes 4-way decision matrix across all probe sets and outputs confusion statistics.</a:t>
            </a:r>
          </a:p>
          <a:p>
            <a:pPr>
              <a:defRPr sz="1150" b="1">
                <a:solidFill>
                  <a:srgbClr val="0F172A"/>
                </a:solidFill>
              </a:defRPr>
            </a:pPr>
            <a:r>
              <a:t>• Publication-Grade Plots: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  Automatically generates all 6 analytical figures in the results/ directory.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731520"/>
            <a:ext cx="103327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Summary of Contributions &amp; Academic Takeaways</a:t>
            </a:r>
          </a:p>
          <a:p>
            <a:pPr>
              <a:defRPr sz="1400">
                <a:solidFill>
                  <a:srgbClr val="06B6D4"/>
                </a:solidFill>
              </a:defRPr>
            </a:pPr>
            <a:r>
              <a:t>Eigenfaces (Turk &amp; Pentland, 1991) Implementation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920240"/>
            <a:ext cx="10360152" cy="4297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defRPr sz="1300" b="1">
                <a:solidFill>
                  <a:srgbClr val="F59E0B"/>
                </a:solidFill>
              </a:defRPr>
            </a:pPr>
            <a:r>
              <a:t>•  1. Mathematical Rigor:</a:t>
            </a:r>
          </a:p>
          <a:p>
            <a:pPr>
              <a:defRPr sz="1150">
                <a:solidFill>
                  <a:srgbClr val="FFFFFF"/>
                </a:solidFill>
              </a:defRPr>
            </a:pPr>
            <a:r>
              <a:t>   Implemented exact PCA and Turk-Pentland surrogate trick (L = A^T A) using pure linear algebra in NumPy, reducing computation by 279.5×.</a:t>
            </a:r>
          </a:p>
          <a:p>
            <a:pPr>
              <a:defRPr sz="1300" b="1">
                <a:solidFill>
                  <a:srgbClr val="F59E0B"/>
                </a:solidFill>
              </a:defRPr>
            </a:pPr>
            <a:r>
              <a:t>•  2. High Compression Ratio:</a:t>
            </a:r>
          </a:p>
          <a:p>
            <a:pPr>
              <a:defRPr sz="1150">
                <a:solidFill>
                  <a:srgbClr val="FFFFFF"/>
                </a:solidFill>
              </a:defRPr>
            </a:pPr>
            <a:r>
              <a:t>   Compressed 4,096-pixel facial images into 40 scalar weights (99.02% reduction) while preserving ~90% recognition accuracy.</a:t>
            </a:r>
          </a:p>
          <a:p>
            <a:pPr>
              <a:defRPr sz="1300" b="1">
                <a:solidFill>
                  <a:srgbClr val="F59E0B"/>
                </a:solidFill>
              </a:defRPr>
            </a:pPr>
            <a:r>
              <a:t>•  3. Complete 4-Way Decision Framework:</a:t>
            </a:r>
          </a:p>
          <a:p>
            <a:pPr>
              <a:defRPr sz="1150">
                <a:solidFill>
                  <a:srgbClr val="FFFFFF"/>
                </a:solidFill>
              </a:defRPr>
            </a:pPr>
            <a:r>
              <a:t>   Dual thresholds (θ_f and θ_c) accurately discriminate between enrolled subjects, unknown human strangers, and non-face objects.</a:t>
            </a:r>
          </a:p>
          <a:p>
            <a:pPr>
              <a:defRPr sz="1300" b="1">
                <a:solidFill>
                  <a:srgbClr val="F59E0B"/>
                </a:solidFill>
              </a:defRPr>
            </a:pPr>
            <a:r>
              <a:t>•  4. Edge Computing Suitability:</a:t>
            </a:r>
          </a:p>
          <a:p>
            <a:pPr>
              <a:defRPr sz="1150">
                <a:solidFill>
                  <a:srgbClr val="FFFFFF"/>
                </a:solidFill>
              </a:defRPr>
            </a:pPr>
            <a:r>
              <a:t>   Instantaneous CPU training (~0.14 s) and microsecond inference make it ideal for embedded biometric IoT devices.</a:t>
            </a:r>
          </a:p>
          <a:p>
            <a:pPr>
              <a:defRPr sz="1300" b="1">
                <a:solidFill>
                  <a:srgbClr val="F59E0B"/>
                </a:solidFill>
              </a:defRPr>
            </a:pPr>
            <a:r>
              <a:t>•  5. Open-Source Verification:</a:t>
            </a:r>
          </a:p>
          <a:p>
            <a:pPr>
              <a:defRPr sz="1150">
                <a:solidFill>
                  <a:srgbClr val="FFFFFF"/>
                </a:solidFill>
              </a:defRPr>
            </a:pPr>
            <a:r>
              <a:t>   Fully reproducible codebase with CLI benchmarks, interactive GUI dashboard, and comprehensive test suite.</a:t>
            </a:r>
          </a:p>
          <a:p>
            <a:br/>
            <a:pPr algn="ctr">
              <a:defRPr sz="1600" b="1">
                <a:solidFill>
                  <a:srgbClr val="06B6D4"/>
                </a:solidFill>
              </a:defRPr>
            </a:pPr>
            <a:r>
              <a:t>Thank You! Ready for Questions &amp; Discussion.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