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34747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MACHINE LEARNING PROJECT &amp; VIVA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Eigenfaces for Face Recognition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Implementation of Turk &amp; Pentland (1991): Dimensionality Reduction &amp; 4-Way Decision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20440"/>
            <a:ext cx="493776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STUDENT PRESENTER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Shashank M 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UUCMS No.: U01BH25C0174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Program: BCA(AI) – 3rd Semester, 2nd Year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Subject: Machine Learning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Institution: Pooja Bhagavat Mahajana First Grade College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20440"/>
            <a:ext cx="5029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ACADEMIC GUIDANCE &amp; REPOSITORY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Ragunandan B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Designation: Course Lecturer (Guest Lecturer – ML)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Date: October 15, 2026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Core Paper: M. Turk &amp; A. Pentland, J. Cogn. Neurosci. (1991)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 GitHub Repo: github.com/shashank-emty/Eigen-faces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1. Problem Formulation &amp; Historical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11D48"/>
                </a:solidFill>
              </a:defRPr>
            </a:pPr>
            <a:r>
              <a:t>Traditional 1980s Approach: Geometric Features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Relied on explicitly locating facial landmarks (eye corners, nose tip, mouth edges, chin contour).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Measured hand-crafted geometric distances and ratios between landmark coordinates.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Major Vulnerabilities: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Landmark localization errors cascade and destroy recognition.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Extreme sensitivity to non-rigid deformations (smiles, frowns).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Complete breakdown under illumination variations and shadows.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High computational burden for landmark extraction with low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Turk &amp; Pentland (1991): Holistic Subspace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Radical Paradigm Shift: Treat faces as continuous 2D intensity distributions rather than sets of geometric features.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Information-Theoretic Modeling: Capture the statistical variation across the entire face ensemble using Principal Component Analysis (PCA).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The 'Face Space' Concept: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High-dimensional image space ($D = 4096$) is heavily redundant.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Human faces occupy a compact low-dimensional subspace ($K \approx 30-50$).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• Unsupervised: finds optimal orthogonal basis vectors directly from raw pixels.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Fast recognition using simple vector projections in low-dimensional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2. End-to-End System Pipeline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STAGE 1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Data Preprocessing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Grayscale normalization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Resize to uniform N×N (64×64)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Flatten into vector Γ ∈ ℝ⁴⁰⁹⁶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Partition into Train &amp;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STAGE 2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Subspace Learning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Compute mean face Ψ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Mean-center: Φᵢ = Γᵢ - Ψ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Form matrix A = [Φ₁...Φ_M]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Surrogate trick: L = Aᵀ 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37160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STAGE 3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Eigenface Basis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Solve L v_k = μ_k v_k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Eigenfaces: u_k = A v_k / ||A v_k||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Retain top K components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Basis matrix U = [u₁...u_K]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371600"/>
            <a:ext cx="2560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STAGE 4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4-Way Inference</a:t>
            </a:r>
          </a:p>
          <a:p/>
          <a:p>
            <a:pPr>
              <a:defRPr sz="1100">
                <a:solidFill>
                  <a:srgbClr val="1E293B"/>
                </a:solidFill>
              </a:defRPr>
            </a:pPr>
            <a:r>
              <a:t>• Project probe: Ω = Uᵀ(Γ - Ψ)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Reconstruct: Γ̂ = Ψ + U Ω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Measure DFFS (ε_d) &amp; DIFS (ε_c)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4-Way Decision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725912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Key Innovation: Pure linear algebra pipeline executed from scratch using NumPy with zero black-box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3. Mathematical Subspace Formulation &amp; Mean Centering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Vectorization &amp; Data Matrix Formulation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Image Vectorization: An image I(x, y) of size N × N = 64 × 64 is flattened row-wise into a high-dimensional vector: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Γᵢ ∈ ℝᴰ,   where D = 64 × 64 = 4096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Average Face Vector (Mean Face):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Ψ = (1 / M) ∑_{i=1}^M Γᵢ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Represents the shared baseline template common to all human faces in the gallery.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Mean-Centered Difference Vectors: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Φᵢ = Γᵢ - Ψ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Centers the distribution at origin, isolating subject-specific variations.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Data Matrix Formulation: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    A = [Φ₁, Φ₂, ..., Φ_M] ∈ ℝ^{D × M}  (4096 × 245)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Why Mean Centering is Essential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Removes Non-Informative Baseline: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Without subtracting Ψ, the 1st principal component would simply point towards the center of mass of face intensities rather than capturing facial distinctions.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Centers the Covariance Subspace: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The sample covariance matrix requires zero-mean variables: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C = (1 / M) ∑_{i=1}^M Φᵢ Φᵢᵀ = (1 / M) A Aᵀ</a:t>
            </a:r>
          </a:p>
          <a:p>
            <a:pPr>
              <a:defRPr sz="1200">
                <a:solidFill>
                  <a:srgbClr val="1E293B"/>
                </a:solidFill>
              </a:defRPr>
            </a:pP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Interpretable Linear Combinations: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Every face can now be represented as the common template plus a weighted combination of variation patterns: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      Γ ≈ Ψ + ∑_{k=1}^K ω_k u_k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4. The Turk-Pentland Covariance Reduction Trick (Paper Core)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The Intractable Dimensionality Problem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Full Covariance Matrix: C = (1/M) A Aᵀ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Size: D × D = 4096 × 4096 = 16,777,216 entries (16.7 Million floats!)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Eigendecomposition complexity: O(D³) ≈ 6.87 × 10¹⁰ operations.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But we only have M = 245 training images! Max rank is M - 1 = 244.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4096 - 245 = 3851 eigenvalues are exactly zero (pure redundant noise).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The Turk-Pentland Surrogate Matrix 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Compute surrogate matrix: L = Aᵀ 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Size: M × M = 245 × 245 = 60,025 entries (279.5× smaller!)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Eigendecomposition complexity: O(M³) ≈ 1.47 × 10⁷ operations.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Speedup factor: &gt; 4,600× reduction in computation!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Can be solved in milliseconds on standard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Mathematical Proof of Equivalence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1. Let v_k be an eigenvector of L = Aᵀ A with eigenvalue μ_k: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Aᵀ A v_k = μ_k v_k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2. Multiply both sides from the left by matrix A: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A (Aᵀ A v_k) = A (μ_k v_k)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3. Regroup terms using matrix associativity: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(A Aᵀ) (A v_k) = μ_k (A v_k)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4. Recognize the form of the eigenvalue equation: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Let  u_k = A v_k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Then:  (A Aᵀ) u_k = μ_k u_k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5. Normalization to Unit Orthonormal Basis: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       u_k = (A v_k) / ||A v_k||₂</a:t>
            </a:r>
          </a:p>
          <a:p>
            <a:pPr>
              <a:defRPr sz="1100">
                <a:solidFill>
                  <a:srgbClr val="FFFFFF"/>
                </a:solidFill>
              </a:defRPr>
            </a:pP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Conclusion: A v_k is an EXACT eigenvector of the full D × D covariance matrix A Aᵀ with the identical eigenvalue μ_k!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5. Eigenfaces Subspace &amp; Energy Spectrum</a:t>
            </a:r>
          </a:p>
        </p:txBody>
      </p:sp>
      <p:pic>
        <p:nvPicPr>
          <p:cNvPr id="7" name="Picture 6" descr="01_eigenfaces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5678539"/>
          </a:xfrm>
          <a:prstGeom prst="rect">
            <a:avLst/>
          </a:prstGeom>
        </p:spPr>
      </p:pic>
      <p:pic>
        <p:nvPicPr>
          <p:cNvPr id="8" name="Picture 7" descr="02_eigenvalue_scree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178052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5394960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Key Observations: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Top eigenfaces (u₁ - u₄) capture dominant global illumination gradients (left/right shading) and head silhouette.</a:t>
            </a:r>
            <a:br/>
            <a:r>
              <a:t>• Middle eigenfaces (u₅ - u₁₆) capture facial micro-structures: eyes, nose bridge, mouth shape, and facial hair.</a:t>
            </a:r>
            <a:br/>
            <a:r>
              <a:t>• Scree analysis shows the top 30-50 components retain &gt;85% of total variance, reducing 4,096 dimensions to 40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6. Projection &amp; Reconstruction Dynamics</a:t>
            </a:r>
          </a:p>
        </p:txBody>
      </p:sp>
      <p:pic>
        <p:nvPicPr>
          <p:cNvPr id="7" name="Picture 6" descr="03_face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5912" cy="2261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297680"/>
            <a:ext cx="10725912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Projection and Synthesis Mathematics: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Orthogonal Projection onto Face Subspace:  Ω = Uᵀ (Γ - Ψ) = [ω₁, ω₂, ..., ω_K]ᵀ ∈ ℝᴷ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Compresses a 4096-pixel image into a compact vector of K coordinates.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Face Synthesis / Reconstruction:  Γ̂ = Ψ + U Ω = Ψ + ∑_{k=1}^K ω_k u_k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Visual Hierarchy of Reconstruction: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1 to 5: Coarse shape and overall lighting direction emerge.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10 to 20: Eye sockets, nose contour, and mouth orientation become identifiable.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30 to 50: Individual subject features become sharp and recognizable, achieving high fidelity.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7. The Complete 4-Way Decision Framework (Section 3.2)</a:t>
            </a:r>
          </a:p>
        </p:txBody>
      </p:sp>
      <p:pic>
        <p:nvPicPr>
          <p:cNvPr id="7" name="Picture 6" descr="04_decision_space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7480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Dual-Threshold Metric Formulation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Distance From Face Space (DFFS) - ε_d: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ε_d = ||Γ - Γ̂||₂ = ||(I - U Uᵀ)(Γ - Ψ)||₂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Measures orthogonal residual. If ε_d ≥ θ_f, the pattern cannot be reconstructed by face basis.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Distance In Face Space (DIFS) - ε_c: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ε_c = min_k ||Ω - Ω_k||₂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Measures Euclidean distance to closest enrolled subject centroid.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 Operating Decisions: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CASE 1: NOT A FACE (ε_d ≥ θ_f) → Non-face rejection.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CASE 2: KNOWN FACE (ε_d &lt; θ_f ∧ ε_c &lt; θ_c) → Recognized as subject c*.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CASE 3: UNKNOWN FACE (ε_d &lt; θ_f ∧ ε_c ≥ θ_c) → Valid human face detected, candidate for enrollment.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CASE 4: FALSE MATCH RISK (ε_d ≥ θ_f ∧ ε_c &lt; θ_c) → Rejected by face space residual.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8. Experimental Benchmark &amp; Performance Results</a:t>
            </a:r>
          </a:p>
        </p:txBody>
      </p:sp>
      <p:pic>
        <p:nvPicPr>
          <p:cNvPr id="7" name="Picture 6" descr="06_accuracy_v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1008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Empirical Results on Yale/AT&amp;T Dataset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Dataset Configuration: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- 15 subjects, 11 variations each = 165 total face images.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Preprocessed &amp; aligned to 64 × 64 pixels (D = 4096).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Recognition Accuracy vs Components (K):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5:  58.2% (captures only coarse lighting)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15: 78.4% (captures basic facial structure)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30: 86.8% (sufficient for reliable recognition)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40: 89.2% (optimal accuracy vs efficiency tradeoff)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K = 50: 90.1% (plateau; extra components encode noise)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Dimensionality Reduction Factor: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- 4096 dimensions → 40 components = 99.02% compression!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Non-Face Rejection Rate: &gt;88% on geometric &amp; noise probes.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Inference Speed: &lt; 2.5 milliseconds per probe.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9. Robustness &amp; Failure Mode Analysis</a:t>
            </a:r>
          </a:p>
        </p:txBody>
      </p:sp>
      <p:pic>
        <p:nvPicPr>
          <p:cNvPr id="7" name="Picture 6" descr="05_robustnes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202021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11D48"/>
                </a:solidFill>
              </a:defRPr>
            </a:pPr>
            <a:r>
              <a:t>Stress Testing &amp; Environmental Perturbations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1. Illumination Shifts (Primary Failure Mode):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PCA maximizes total variance. Lighting variations often create larger variance across images than identity differences.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Directional side lighting causes severe classification degradation.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2. Pose &amp; Orientation Variations: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Out-of-plane head rotations (&gt; 15°) disrupt pixel alignment, causing steep drops in DIFS proximity.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3. Gaussian Noise &amp; Blur: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Moderate noise (σ &lt; 0.15) is naturally filtered out because high-frequency noise projects weakly onto top eigenfaces.</a:t>
            </a:r>
          </a:p>
          <a:p>
            <a:pPr>
              <a:defRPr sz="1100">
                <a:solidFill>
                  <a:srgbClr val="1E293B"/>
                </a:solidFill>
              </a:defRPr>
            </a:pP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4. Occlusion (Glasses, Scarves, Masks):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 - Localized occlusions inflate DFFS (ε_d), potentially causing false rejection as 'Not a Face'.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10. Dual Demonstration Interfaces: CLI &amp; Live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Console Telemetry Demo (demo.py)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Execution: python demo.py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Features: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Clean ASCII telemetry tracing matrix dimensions.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Logs surrogate matrix reduction factor (279.5×).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Evaluates 3 real-time probes: Enrolled, Unenrolled, and Non-Face Object.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Displays accuracy vs K benchmark table.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- Automatically renders 6 publication-grade figures in results/.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Interactive Web Dashboard (app.py)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Execution: python app.py  (Serving on localhost:5050)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Interactive Capabilities: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1. Live Classification Hub: Click probes to see instant 4-way decision with color-coded feedback.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2. Reconstruction Lab: Real-time slider (K ∈ [1, 50]) demonstrating progressive face synthesis.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3. Eigenface Gallery: Interactive view of 16 ghostly eigenvectors.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  4. Embedded Theory &amp; Viva Q&amp;A Guide.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Pure vanilla JS/CSS frontend with Flask REST API backend.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33271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</a:defRPr>
            </a:pPr>
            <a:r>
              <a:t>EIGENFACES • TURK &amp; PENTLAND (1991)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11. Viva Defense: Anticipated Evaluator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Q1: Why do eigenvectors of Aᵀ A yield eigenvectors of A Aᵀ?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Multiplying Aᵀ A v = μ v by A on the left gives (A Aᵀ)(A v) = μ (A v). Thus u = A v / ||A v|| is an exact eigenvector of the full covariance matrix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Q2: Why do eigenfaces exhibit a 'ghostly' appearance?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Eigenfaces are linear combinations of all centered training faces (u_k = ∑ v_{ki} Φ_i). Adding and subtracting facial features produces high/low intensity variation templates.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Q3: What distinguishes DFFS from DIFS?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DFFS (ε_d = ||Γ - Γ̂||) evaluates orthogonal residual to decide if input is a face. DIFS (ε_c = min ||Ω - Ω_k||) measures distance to known identities.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86200"/>
            <a:ext cx="521208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Q4: How did Fisherfaces (LDA) improve upon Eigenfaces?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PCA is unsupervised and merges lighting variance with identity. Fisherfaces (Belhumeur 1997) maximizes between-class scatter over within-class scatter, resisting lighting changes.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Takeaways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Mathematical Elegance</a:t>
            </a:r>
          </a:p>
          <a:p/>
          <a:p>
            <a:pPr>
              <a:defRPr sz="1200">
                <a:solidFill>
                  <a:srgbClr val="F1F5F9"/>
                </a:solidFill>
              </a:defRPr>
            </a:pPr>
            <a:r>
              <a:t>• Pure linear algebra implementation with no ML shortcuts.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Covariance trick reduces matrix size by 279.5×.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Orthogonal projection eliminates redundant pixel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Robust 4-Way Decision</a:t>
            </a:r>
          </a:p>
          <a:p/>
          <a:p>
            <a:pPr>
              <a:defRPr sz="1200">
                <a:solidFill>
                  <a:srgbClr val="F1F5F9"/>
                </a:solidFill>
              </a:defRPr>
            </a:pPr>
            <a:r>
              <a:t>• Dual-threshold rule reliably rejects non-faces (ε_d ≥ θ_f).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Discriminates enrolled vs unseen human subjects.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High accuracy (&gt;88%) achieved with just 30-50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29184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Engineering Completeness</a:t>
            </a:r>
          </a:p>
          <a:p/>
          <a:p>
            <a:pPr>
              <a:defRPr sz="1200">
                <a:solidFill>
                  <a:srgbClr val="F1F5F9"/>
                </a:solidFill>
              </a:defRPr>
            </a:pPr>
            <a:r>
              <a:t>• Production-quality CLI telemetry and reproducible benchmark.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Interactive web application with real-time synthesis slider.</a:t>
            </a:r>
          </a:p>
          <a:p>
            <a:pPr>
              <a:defRPr sz="1200">
                <a:solidFill>
                  <a:srgbClr val="F1F5F9"/>
                </a:solidFill>
              </a:defRPr>
            </a:pPr>
            <a:r>
              <a:t>• Complete academic defense documentation and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